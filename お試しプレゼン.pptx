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6" r:id="rId2"/>
    <p:sldId id="278" r:id="rId3"/>
    <p:sldId id="282" r:id="rId4"/>
    <p:sldId id="283" r:id="rId5"/>
    <p:sldId id="284" r:id="rId6"/>
    <p:sldId id="286" r:id="rId7"/>
    <p:sldId id="28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3"/>
    <p:restoredTop sz="94658"/>
  </p:normalViewPr>
  <p:slideViewPr>
    <p:cSldViewPr snapToGrid="0">
      <p:cViewPr varScale="1">
        <p:scale>
          <a:sx n="96" d="100"/>
          <a:sy n="96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7A2E1-B5E0-81D5-6A2F-01638B23C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673239-7342-1521-C5E4-0971FC91D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96ED97-88B1-6D35-561F-C4B1BC0D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6B5622-D628-B283-8DDF-FDCE7627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66B76-B4ED-6470-86F6-BBBD359E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43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D3BAF-96A8-282C-9E87-B9F3215A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7FAA27-8876-6382-3911-2A3CD4EE5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9C1719-6F94-689A-60A2-A9E4C66E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D6CD8D-6070-B166-8A08-12C2CD50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162862-C55D-1C8F-D26F-CC646158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10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74BCE-CCA2-19E7-9EAA-D6B24F9F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06F249-62B1-5EAF-4934-1AD747F3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4124F9-91C9-ED2F-C39C-2DB19088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D1C107-8074-ACF9-EADF-0FA87993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B13F6F-D2E7-BBAB-FF36-F5C11413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0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B992A-F45C-79A3-7D5F-AEAA08C6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D711BC-CB99-92EA-3FB2-20FC06DEA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C6B13-8C86-B8AC-35C6-9442378A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9FF2E0-06AB-4D8B-3BFD-8B998949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0159D1-6924-31FD-4FEE-5E0C477E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B6E00-EA37-98D9-3398-C99CAD2D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550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596853-50E9-B950-E8C3-BC22E437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973ED9-CE6A-53F3-1C8A-9A9A2A22B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C4CC8F-2745-4D83-885A-51DC6B5DF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CB51B6-674A-BEBD-9CAA-141A0E752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545AC7-E20C-C3F7-255F-BFE2E0ED5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BDECDD-DC25-08C0-8882-9E3ECAAB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642A65-2A67-E96C-450F-C056AA9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44F617-2BB5-D463-9B77-9B8BCAB7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04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25091-EE5C-9B1C-C704-4924F1B8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769F8E-E3DF-5723-9E19-1BED5318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80DD959-4CDF-F8D9-D912-A212483C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AAEDB8F-2705-D49E-52BA-EA7A8215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58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52FE0E-2419-1F5D-F743-D80EB8FA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54AC66-E093-7950-4AD7-659F3BF8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472088-DDCF-C3EB-EC19-BF27AF2C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98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75CF0-B154-5E3D-9180-FE6219EC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F3500E-A25D-2005-77CF-A50A243B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85A4E4-D831-75E1-FB1E-EEA88B7B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279B83-3050-AE25-B8C3-1E066EE2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42B597-C22A-1B85-F22D-82471858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0D7128-7B98-877B-133F-625ACBB9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99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B63BC-E3D1-0BBF-4B79-DD053989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5DC356-12D7-10B1-7B58-57D2A143C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604A8C-9008-0E6A-8849-17A96AA91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0FBC0D-B9C5-0E03-ABE2-ED4A0CC4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CDAB25-E9A3-6453-C7E1-D031E06F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7E6357-525D-D2A8-9E10-22F51F12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33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54FA27-D9C2-87C4-D347-34E005A9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6EB0D3-DEE5-0A0D-C59F-CC5F3609F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E6F2E2-0A4E-8E54-C38E-9129CEFD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4E8785-51DF-C7FA-80E3-172B851DF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DC694E-F11E-C992-45F6-2D12DE63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88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7A28799-33C4-0650-16FD-A6015980B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B96E87-3148-D625-159B-F592F6DF0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BE2FCA-0934-320B-4B3A-EF0561C0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E9EDA7-DEE3-2A76-63D9-BD685856D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14CBFB-95C4-DF22-98EC-33FC75C4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6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C6BED5F-23DB-B292-BFDC-179EF89B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0763F9-1EF1-297A-EB35-FCBDE9A7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1892C1-BE38-996C-958B-B8C61DB89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0A8DA-6505-D14D-8812-F9F7DD1D8D8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323D5-F1B8-5348-9615-30A11AB43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A76020-9239-5BDA-E80D-FC4E0329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AC3D8-628B-C444-A668-58624ED1E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38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2A0F72-675D-D81B-9B8D-AF5E209E9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000000"/>
                </a:solidFill>
              </a:rPr>
              <a:t>Azureネットワーク ログ収集設計</a:t>
            </a:r>
          </a:p>
          <a:p>
            <a:pPr algn="ctr">
              <a:buNone/>
            </a:pPr>
            <a:r>
              <a:rPr lang="ja-JP" sz="2400" dirty="0">
                <a:solidFill>
                  <a:srgbClr val="333333"/>
                </a:solidFill>
              </a:rPr>
              <a:t>Microsoft Sentinelへの集約アーキテクチャ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B836EE-FF2F-7F6D-E5FE-9D4B0B34C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ja-JP" sz="1800" b="1" dirty="0">
                <a:solidFill>
                  <a:srgbClr val="000000"/>
                </a:solidFill>
              </a:rPr>
              <a:t>シングルVNet構成 / セキュリティ監視・コンプライアンス観点</a:t>
            </a:r>
          </a:p>
          <a:p>
            <a:pPr algn="ctr">
              <a:buNone/>
            </a:pPr>
            <a:r>
              <a:rPr lang="ja-JP" sz="1400" dirty="0">
                <a:solidFill>
                  <a:srgbClr val="666666"/>
                </a:solidFill>
              </a:rPr>
              <a:t>各ログソースの取得理由を明示</a:t>
            </a:r>
          </a:p>
        </p:txBody>
      </p:sp>
      <p:sp>
        <p:nvSpPr>
          <p:cNvPr id="9000" name="UnderlineBar"/>
          <p:cNvSpPr/>
          <p:nvPr/>
        </p:nvSpPr>
        <p:spPr>
          <a:xfrm>
            <a:off x="5334000" y="2984500"/>
            <a:ext cx="1524000" cy="5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0622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3EB2A-5705-42CB-2173-B33FDF816AA8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9525">
            <a:solidFill>
              <a:srgbClr val="000000"/>
            </a:solidFill>
          </a:ln>
        </p:spPr>
        <p:txBody>
          <a:bodyPr/>
          <a:lstStyle/>
          <a:p>
            <a:pPr algn="l">
              <a:buNone/>
            </a:pPr>
            <a:r>
              <a:rPr lang="ja-JP" sz="2800" b="1" dirty="0">
                <a:solidFill>
                  <a:srgbClr val="000000"/>
                </a:solidFill>
              </a:rPr>
              <a:t>全体構成 — ログ取得ポイント俯瞰</a:t>
            </a:r>
          </a:p>
        </p:txBody>
      </p:sp>
      <p:sp>
        <p:nvSpPr>
          <p:cNvPr id="1001" name="C1001"/>
          <p:cNvSpPr/>
          <p:nvPr/>
        </p:nvSpPr>
        <p:spPr>
          <a:xfrm>
            <a:off x="508000" y="1841500"/>
            <a:ext cx="7874000" cy="45085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200" b="1" dirty="0">
                <a:solidFill>
                  <a:srgbClr val="000000"/>
                </a:solidFill>
              </a:rPr>
              <a:t>Virtual Network  10.0.0.0/16</a:t>
            </a:r>
          </a:p>
        </p:txBody>
      </p:sp>
      <p:sp>
        <p:nvSpPr>
          <p:cNvPr id="1002" name="C1002"/>
          <p:cNvSpPr/>
          <p:nvPr/>
        </p:nvSpPr>
        <p:spPr>
          <a:xfrm>
            <a:off x="762000" y="2349500"/>
            <a:ext cx="3556000" cy="16510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000" b="1" dirty="0">
                <a:solidFill>
                  <a:srgbClr val="000000"/>
                </a:solidFill>
              </a:rPr>
              <a:t>Subnet: web-tier</a:t>
            </a:r>
          </a:p>
        </p:txBody>
      </p:sp>
      <p:sp>
        <p:nvSpPr>
          <p:cNvPr id="1003" name="S1003"/>
          <p:cNvSpPr/>
          <p:nvPr/>
        </p:nvSpPr>
        <p:spPr>
          <a:xfrm>
            <a:off x="952500" y="2794000"/>
            <a:ext cx="14605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VM (Web)</a:t>
            </a:r>
          </a:p>
        </p:txBody>
      </p:sp>
      <p:sp>
        <p:nvSpPr>
          <p:cNvPr id="1004" name="S1004"/>
          <p:cNvSpPr/>
          <p:nvPr/>
        </p:nvSpPr>
        <p:spPr>
          <a:xfrm>
            <a:off x="2667000" y="2794000"/>
            <a:ext cx="14605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VM (Web)</a:t>
            </a:r>
          </a:p>
        </p:txBody>
      </p:sp>
      <p:sp>
        <p:nvSpPr>
          <p:cNvPr id="1005" name="S1005"/>
          <p:cNvSpPr/>
          <p:nvPr/>
        </p:nvSpPr>
        <p:spPr>
          <a:xfrm>
            <a:off x="3746500" y="2438400"/>
            <a:ext cx="571500" cy="2159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</a:rPr>
              <a:t>NSG</a:t>
            </a:r>
          </a:p>
        </p:txBody>
      </p:sp>
      <p:sp>
        <p:nvSpPr>
          <p:cNvPr id="1006" name="C1006"/>
          <p:cNvSpPr/>
          <p:nvPr/>
        </p:nvSpPr>
        <p:spPr>
          <a:xfrm>
            <a:off x="4572000" y="2349500"/>
            <a:ext cx="3556000" cy="16510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000" b="1" dirty="0">
                <a:solidFill>
                  <a:srgbClr val="000000"/>
                </a:solidFill>
              </a:rPr>
              <a:t>Subnet: app-tier</a:t>
            </a:r>
          </a:p>
        </p:txBody>
      </p:sp>
      <p:sp>
        <p:nvSpPr>
          <p:cNvPr id="1007" name="S1007"/>
          <p:cNvSpPr/>
          <p:nvPr/>
        </p:nvSpPr>
        <p:spPr>
          <a:xfrm>
            <a:off x="4762500" y="2794000"/>
            <a:ext cx="14605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VM (App)</a:t>
            </a:r>
          </a:p>
        </p:txBody>
      </p:sp>
      <p:sp>
        <p:nvSpPr>
          <p:cNvPr id="1008" name="S1008"/>
          <p:cNvSpPr/>
          <p:nvPr/>
        </p:nvSpPr>
        <p:spPr>
          <a:xfrm>
            <a:off x="6477000" y="2794000"/>
            <a:ext cx="14605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VM (App)</a:t>
            </a:r>
          </a:p>
        </p:txBody>
      </p:sp>
      <p:sp>
        <p:nvSpPr>
          <p:cNvPr id="1009" name="S1009"/>
          <p:cNvSpPr/>
          <p:nvPr/>
        </p:nvSpPr>
        <p:spPr>
          <a:xfrm>
            <a:off x="7556500" y="2438400"/>
            <a:ext cx="571500" cy="2159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900" b="1" dirty="0">
                <a:solidFill>
                  <a:srgbClr val="FFFFFF"/>
                </a:solidFill>
              </a:rPr>
              <a:t>NSG</a:t>
            </a:r>
          </a:p>
        </p:txBody>
      </p:sp>
      <p:sp>
        <p:nvSpPr>
          <p:cNvPr id="1010" name="C1010"/>
          <p:cNvSpPr/>
          <p:nvPr/>
        </p:nvSpPr>
        <p:spPr>
          <a:xfrm>
            <a:off x="762000" y="4127500"/>
            <a:ext cx="3556000" cy="8255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000" b="1" dirty="0">
                <a:solidFill>
                  <a:srgbClr val="000000"/>
                </a:solidFill>
              </a:rPr>
              <a:t>Subnet: AzureBastionSubnet</a:t>
            </a:r>
          </a:p>
        </p:txBody>
      </p:sp>
      <p:sp>
        <p:nvSpPr>
          <p:cNvPr id="1011" name="S1011"/>
          <p:cNvSpPr/>
          <p:nvPr/>
        </p:nvSpPr>
        <p:spPr>
          <a:xfrm>
            <a:off x="952500" y="4495800"/>
            <a:ext cx="3175000" cy="381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Azure Bastion</a:t>
            </a:r>
          </a:p>
        </p:txBody>
      </p:sp>
      <p:sp>
        <p:nvSpPr>
          <p:cNvPr id="1012" name="C1012"/>
          <p:cNvSpPr/>
          <p:nvPr/>
        </p:nvSpPr>
        <p:spPr>
          <a:xfrm>
            <a:off x="4572000" y="4127500"/>
            <a:ext cx="3556000" cy="8255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000" b="1" dirty="0">
                <a:solidFill>
                  <a:srgbClr val="000000"/>
                </a:solidFill>
              </a:rPr>
              <a:t>Subnet: pe-subnet</a:t>
            </a:r>
          </a:p>
        </p:txBody>
      </p:sp>
      <p:sp>
        <p:nvSpPr>
          <p:cNvPr id="1013" name="S1013"/>
          <p:cNvSpPr/>
          <p:nvPr/>
        </p:nvSpPr>
        <p:spPr>
          <a:xfrm>
            <a:off x="4762500" y="4495800"/>
            <a:ext cx="3175000" cy="381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Storage / Key Vault (PE)</a:t>
            </a:r>
          </a:p>
        </p:txBody>
      </p:sp>
      <p:sp>
        <p:nvSpPr>
          <p:cNvPr id="1014" name="C1014"/>
          <p:cNvSpPr/>
          <p:nvPr/>
        </p:nvSpPr>
        <p:spPr>
          <a:xfrm>
            <a:off x="762000" y="5080000"/>
            <a:ext cx="7366000" cy="11430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000" b="1" dirty="0">
                <a:solidFill>
                  <a:srgbClr val="000000"/>
                </a:solidFill>
              </a:rPr>
              <a:t>Subnet: AzureFirewallSubnet</a:t>
            </a:r>
          </a:p>
        </p:txBody>
      </p:sp>
      <p:sp>
        <p:nvSpPr>
          <p:cNvPr id="1015" name="S1015"/>
          <p:cNvSpPr/>
          <p:nvPr/>
        </p:nvSpPr>
        <p:spPr>
          <a:xfrm>
            <a:off x="952500" y="5549900"/>
            <a:ext cx="6985000" cy="5334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</a:rPr>
              <a:t>Azure Firewall (Premium)</a:t>
            </a:r>
          </a:p>
        </p:txBody>
      </p:sp>
      <p:sp>
        <p:nvSpPr>
          <p:cNvPr id="1016" name="C1016"/>
          <p:cNvSpPr/>
          <p:nvPr/>
        </p:nvSpPr>
        <p:spPr>
          <a:xfrm>
            <a:off x="8636000" y="2222500"/>
            <a:ext cx="2921000" cy="18415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200" b="1" dirty="0">
                <a:solidFill>
                  <a:srgbClr val="000000"/>
                </a:solidFill>
              </a:rPr>
              <a:t>境界 (公開)</a:t>
            </a:r>
          </a:p>
        </p:txBody>
      </p:sp>
      <p:sp>
        <p:nvSpPr>
          <p:cNvPr id="1017" name="S1017"/>
          <p:cNvSpPr/>
          <p:nvPr/>
        </p:nvSpPr>
        <p:spPr>
          <a:xfrm>
            <a:off x="8826500" y="2667000"/>
            <a:ext cx="2540000" cy="4826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Application Gateway + WAF</a:t>
            </a:r>
          </a:p>
        </p:txBody>
      </p:sp>
      <p:sp>
        <p:nvSpPr>
          <p:cNvPr id="1018" name="S1018"/>
          <p:cNvSpPr/>
          <p:nvPr/>
        </p:nvSpPr>
        <p:spPr>
          <a:xfrm>
            <a:off x="8826500" y="3251200"/>
            <a:ext cx="2540000" cy="4826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Public IP (DDoS Std)</a:t>
            </a:r>
          </a:p>
        </p:txBody>
      </p:sp>
      <p:sp>
        <p:nvSpPr>
          <p:cNvPr id="1019" name="C1019"/>
          <p:cNvSpPr/>
          <p:nvPr/>
        </p:nvSpPr>
        <p:spPr>
          <a:xfrm>
            <a:off x="8636000" y="4254500"/>
            <a:ext cx="2921000" cy="1143000"/>
          </a:xfrm>
          <a:prstGeom prst="roundRect">
            <a:avLst>
              <a:gd name="adj" fmla="val 3000"/>
            </a:avLst>
          </a:prstGeom>
          <a:noFill/>
          <a:ln w="9525" cap="flat">
            <a:solidFill>
              <a:srgbClr val="000000"/>
            </a:solidFill>
            <a:prstDash val="dash"/>
          </a:ln>
        </p:spPr>
        <p:txBody>
          <a:bodyPr wrap="square" lIns="90000" tIns="45000" rIns="90000" bIns="36000" anchor="t"/>
          <a:lstStyle/>
          <a:p>
            <a:pPr algn="l">
              <a:buNone/>
            </a:pPr>
            <a:r>
              <a:rPr lang="ja-JP" sz="1200" b="1" dirty="0">
                <a:solidFill>
                  <a:srgbClr val="000000"/>
                </a:solidFill>
              </a:rPr>
              <a:t>Identity / 制御プレーン</a:t>
            </a:r>
          </a:p>
        </p:txBody>
      </p:sp>
      <p:sp>
        <p:nvSpPr>
          <p:cNvPr id="1020" name="S1020"/>
          <p:cNvSpPr/>
          <p:nvPr/>
        </p:nvSpPr>
        <p:spPr>
          <a:xfrm>
            <a:off x="8826500" y="4724400"/>
            <a:ext cx="2540000" cy="4826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FFFFFF"/>
                </a:solidFill>
              </a:rPr>
              <a:t>Entra ID / Activity Log</a:t>
            </a:r>
          </a:p>
        </p:txBody>
      </p:sp>
      <p:sp>
        <p:nvSpPr>
          <p:cNvPr id="1021" name="Sentinel"/>
          <p:cNvSpPr/>
          <p:nvPr/>
        </p:nvSpPr>
        <p:spPr>
          <a:xfrm>
            <a:off x="8636000" y="5549900"/>
            <a:ext cx="2921000" cy="6985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300" b="1" dirty="0">
                <a:solidFill>
                  <a:srgbClr val="FFFFFF"/>
                </a:solidFill>
              </a:rPr>
              <a:t>Microsoft Sentinel</a:t>
            </a:r>
          </a:p>
          <a:p>
            <a:pPr algn="ctr">
              <a:buNone/>
            </a:pPr>
            <a:r>
              <a:rPr lang="ja-JP" sz="1000" dirty="0">
                <a:solidFill>
                  <a:srgbClr val="FFFFFF"/>
                </a:solidFill>
              </a:rPr>
              <a:t>(Log Analytics Workspace)</a:t>
            </a:r>
          </a:p>
        </p:txBody>
      </p:sp>
      <p:cxnSp>
        <p:nvCxnSpPr>
          <p:cNvPr id="1022" name="A1022"/>
          <p:cNvCxnSpPr/>
          <p:nvPr/>
        </p:nvCxnSpPr>
        <p:spPr>
          <a:xfrm>
            <a:off x="8128000" y="5816600"/>
            <a:ext cx="482600" cy="50800"/>
          </a:xfrm>
          <a:prstGeom prst="straightConnector1">
            <a:avLst/>
          </a:prstGeom>
          <a:ln w="15875">
            <a:solidFill>
              <a:srgbClr val="000000"/>
            </a:solidFill>
            <a:tailEnd type="triangle"/>
          </a:ln>
        </p:spPr>
      </p:cxnSp>
      <p:cxnSp>
        <p:nvCxnSpPr>
          <p:cNvPr id="1023" name="A1023"/>
          <p:cNvCxnSpPr/>
          <p:nvPr/>
        </p:nvCxnSpPr>
        <p:spPr>
          <a:xfrm>
            <a:off x="10096500" y="4089400"/>
            <a:ext cx="12700" cy="1460500"/>
          </a:xfrm>
          <a:prstGeom prst="straightConnector1">
            <a:avLst/>
          </a:prstGeom>
          <a:ln w="15875">
            <a:solidFill>
              <a:srgbClr val="000000"/>
            </a:solidFill>
            <a:tailEnd type="triangle"/>
          </a:ln>
        </p:spPr>
      </p:cxnSp>
      <p:cxnSp>
        <p:nvCxnSpPr>
          <p:cNvPr id="1024" name="A1024"/>
          <p:cNvCxnSpPr/>
          <p:nvPr/>
        </p:nvCxnSpPr>
        <p:spPr>
          <a:xfrm>
            <a:off x="10096500" y="5397500"/>
            <a:ext cx="12700" cy="152400"/>
          </a:xfrm>
          <a:prstGeom prst="straightConnector1">
            <a:avLst/>
          </a:prstGeom>
          <a:ln w="15875">
            <a:solidFill>
              <a:srgbClr val="000000"/>
            </a:solidFill>
            <a:tailEnd type="triangle"/>
          </a:ln>
        </p:spPr>
      </p:cxnSp>
      <p:sp>
        <p:nvSpPr>
          <p:cNvPr id="1025" name="L1025"/>
          <p:cNvSpPr/>
          <p:nvPr/>
        </p:nvSpPr>
        <p:spPr>
          <a:xfrm>
            <a:off x="508000" y="6477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ja-JP" sz="1100" dirty="0">
                <a:solidFill>
                  <a:srgbClr val="000000"/>
                </a:solidFill>
              </a:rPr>
              <a:t>凡例:  ■ 黒塗り = ログ取得ポイント (Sentinel送付対象)     □ 白塗り = ログ非対象の構成要素</a:t>
            </a:r>
          </a:p>
        </p:txBody>
      </p:sp>
    </p:spTree>
    <p:extLst>
      <p:ext uri="{BB962C8B-B14F-4D97-AF65-F5344CB8AC3E}">
        <p14:creationId xmlns:p14="http://schemas.microsoft.com/office/powerpoint/2010/main" val="161429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19282-558B-B571-4083-752EE27A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800" b="1" dirty="0">
                <a:solidFill>
                  <a:srgbClr val="000000"/>
                </a:solidFill>
              </a:rPr>
              <a:t>① Network層 — トラフィックログ</a:t>
            </a:r>
          </a:p>
        </p:txBody>
      </p:sp>
      <p:sp>
        <p:nvSpPr>
          <p:cNvPr id="2001" name="Card2001"/>
          <p:cNvSpPr/>
          <p:nvPr/>
        </p:nvSpPr>
        <p:spPr>
          <a:xfrm>
            <a:off x="508000" y="1841500"/>
            <a:ext cx="3619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各サブネットのNSG / VNet Flow Logs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5タプル + Allow/Deny + バイト数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Storage → Traffic Analytics → LAW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東西/南北通信の可視化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不正接続・C2通信検知の基礎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監査: アクセス記録の証跡</a:t>
            </a:r>
          </a:p>
        </p:txBody>
      </p:sp>
      <p:sp>
        <p:nvSpPr>
          <p:cNvPr id="2002" name="Strip2002"/>
          <p:cNvSpPr/>
          <p:nvPr/>
        </p:nvSpPr>
        <p:spPr>
          <a:xfrm>
            <a:off x="508000" y="1841500"/>
            <a:ext cx="36195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44000" tIns="18000" rIns="108000" bIns="18000" anchor="ctr"/>
          <a:lstStyle/>
          <a:p>
            <a:pPr algn="l">
              <a:buNone/>
            </a:pPr>
            <a:r>
              <a:rPr lang="ja-JP" sz="1500" b="1" dirty="0">
                <a:solidFill>
                  <a:srgbClr val="FFFFFF"/>
                </a:solidFill>
              </a:rPr>
              <a:t>NSG / VNet Flow Logs</a:t>
            </a:r>
          </a:p>
        </p:txBody>
      </p:sp>
      <p:sp>
        <p:nvSpPr>
          <p:cNvPr id="2003" name="Card2003"/>
          <p:cNvSpPr/>
          <p:nvPr/>
        </p:nvSpPr>
        <p:spPr>
          <a:xfrm>
            <a:off x="4292600" y="1841500"/>
            <a:ext cx="3619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Network/Application/Threat Intel Rule Logs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DNS Proxy / IDPS シグネチャ検知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診断設定 → LAW (Resource-specific)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送信先FQDN/URL単位での可視化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マルウェア通信ブロックの証跡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監査: 出口制御ポリシー証明</a:t>
            </a:r>
          </a:p>
        </p:txBody>
      </p:sp>
      <p:sp>
        <p:nvSpPr>
          <p:cNvPr id="2004" name="Strip2004"/>
          <p:cNvSpPr/>
          <p:nvPr/>
        </p:nvSpPr>
        <p:spPr>
          <a:xfrm>
            <a:off x="4292600" y="1841500"/>
            <a:ext cx="36195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44000" tIns="18000" rIns="108000" bIns="18000" anchor="ctr"/>
          <a:lstStyle/>
          <a:p>
            <a:pPr algn="l">
              <a:buNone/>
            </a:pPr>
            <a:r>
              <a:rPr lang="ja-JP" sz="1500" b="1" dirty="0">
                <a:solidFill>
                  <a:srgbClr val="FFFFFF"/>
                </a:solidFill>
              </a:rPr>
              <a:t>Azure Firewall Logs</a:t>
            </a:r>
          </a:p>
        </p:txBody>
      </p:sp>
      <p:sp>
        <p:nvSpPr>
          <p:cNvPr id="2005" name="Card2005"/>
          <p:cNvSpPr/>
          <p:nvPr/>
        </p:nvSpPr>
        <p:spPr>
          <a:xfrm>
            <a:off x="8077200" y="1841500"/>
            <a:ext cx="3619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Network Watcher: Connection Monitor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VNet内DNSクエリ (DNS Resolver)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診断設定 → LAW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到達性のベースライン化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DGA/疑わしいDNSクエリ検知</a:t>
            </a:r>
          </a:p>
          <a:p>
            <a:pPr marL="200025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>
                <a:solidFill>
                  <a:srgbClr val="000000"/>
                </a:solidFill>
              </a:rPr>
              <a:t>監査: 接続性継続証明 (SLA)</a:t>
            </a:r>
          </a:p>
        </p:txBody>
      </p:sp>
      <p:sp>
        <p:nvSpPr>
          <p:cNvPr id="2006" name="Strip2006"/>
          <p:cNvSpPr/>
          <p:nvPr/>
        </p:nvSpPr>
        <p:spPr>
          <a:xfrm>
            <a:off x="8077200" y="1841500"/>
            <a:ext cx="36195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44000" tIns="18000" rIns="108000" bIns="18000" anchor="ctr"/>
          <a:lstStyle/>
          <a:p>
            <a:pPr algn="l">
              <a:buNone/>
            </a:pPr>
            <a:r>
              <a:rPr lang="ja-JP" sz="1500" b="1" dirty="0">
                <a:solidFill>
                  <a:srgbClr val="FFFFFF"/>
                </a:solidFill>
              </a:rPr>
              <a:t>Network Watcher / DNS</a:t>
            </a:r>
          </a:p>
        </p:txBody>
      </p:sp>
    </p:spTree>
    <p:extLst>
      <p:ext uri="{BB962C8B-B14F-4D97-AF65-F5344CB8AC3E}">
        <p14:creationId xmlns:p14="http://schemas.microsoft.com/office/powerpoint/2010/main" val="164506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D0CEF-3631-5379-EFC3-A8044CDC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800" b="1" dirty="0"/>
              <a:t>② 境界・PaaS層 — アクセスログ</a:t>
            </a:r>
          </a:p>
        </p:txBody>
      </p:sp>
      <p:sp>
        <p:nvSpPr>
          <p:cNvPr id="3001" name="Card3001"/>
          <p:cNvSpPr/>
          <p:nvPr/>
        </p:nvSpPr>
        <p:spPr>
          <a:xfrm>
            <a:off x="5080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/>
              <a:t>Access / Performance Log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WAF Firewall Log (検知/ブロック)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診断設定 → LAW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Web攻撃 (OWASP Top10) 検知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クライアントIP・User-Agent証跡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PCI DSS 要件10対応</a:t>
            </a:r>
          </a:p>
        </p:txBody>
      </p:sp>
      <p:sp>
        <p:nvSpPr>
          <p:cNvPr id="3002" name="Strip3002"/>
          <p:cNvSpPr/>
          <p:nvPr/>
        </p:nvSpPr>
        <p:spPr>
          <a:xfrm>
            <a:off x="5080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App Gateway / WAF</a:t>
            </a:r>
          </a:p>
        </p:txBody>
      </p:sp>
      <p:sp>
        <p:nvSpPr>
          <p:cNvPr id="3003" name="Card3003"/>
          <p:cNvSpPr/>
          <p:nvPr/>
        </p:nvSpPr>
        <p:spPr>
          <a:xfrm>
            <a:off x="42926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/>
              <a:t>Bastion Session Log (誰が誰に)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Audit Log (操作監査)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診断設定 → LAW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特権アクセスの完全可視化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不審な踏み台アクセス検知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内部統制・J-SOX対応</a:t>
            </a:r>
          </a:p>
        </p:txBody>
      </p:sp>
      <p:sp>
        <p:nvSpPr>
          <p:cNvPr id="3004" name="Strip3004"/>
          <p:cNvSpPr/>
          <p:nvPr/>
        </p:nvSpPr>
        <p:spPr>
          <a:xfrm>
            <a:off x="42926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Azure Bastion</a:t>
            </a:r>
          </a:p>
        </p:txBody>
      </p:sp>
      <p:sp>
        <p:nvSpPr>
          <p:cNvPr id="3005" name="Card3005"/>
          <p:cNvSpPr/>
          <p:nvPr/>
        </p:nvSpPr>
        <p:spPr>
          <a:xfrm>
            <a:off x="80772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300"/>
              </a:spcAft>
              <a:buFont typeface="Arial"/>
              <a:buChar char="■"/>
            </a:pPr>
            <a:r>
              <a:rPr lang="ja-JP" sz="1400" dirty="0"/>
              <a:t>Storage / Key Vault 診断ログ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DDoS Protection (公開IPごと)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診断設定 → LAW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機密データへのアクセス追跡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DDoS攻撃検知・緩和記録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個人情報保護法・ISMS</a:t>
            </a:r>
          </a:p>
        </p:txBody>
      </p:sp>
      <p:sp>
        <p:nvSpPr>
          <p:cNvPr id="3006" name="Strip3006"/>
          <p:cNvSpPr/>
          <p:nvPr/>
        </p:nvSpPr>
        <p:spPr>
          <a:xfrm>
            <a:off x="80772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Private Endpoint / DDoS</a:t>
            </a:r>
          </a:p>
        </p:txBody>
      </p:sp>
    </p:spTree>
    <p:extLst>
      <p:ext uri="{BB962C8B-B14F-4D97-AF65-F5344CB8AC3E}">
        <p14:creationId xmlns:p14="http://schemas.microsoft.com/office/powerpoint/2010/main" val="402795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6F6AC-D3B2-8EE3-E551-BFE5460C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800" b="1" dirty="0"/>
              <a:t>③ Identity / Control Plane</a:t>
            </a:r>
          </a:p>
        </p:txBody>
      </p:sp>
      <p:sp>
        <p:nvSpPr>
          <p:cNvPr id="4001" name="Card4001"/>
          <p:cNvSpPr/>
          <p:nvPr/>
        </p:nvSpPr>
        <p:spPr>
          <a:xfrm>
            <a:off x="5080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SignInLogs (対話/非対話)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AuditLogs (ディレクトリ変更)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RiskyUsers / IdentityProtection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Sentinel データコネクタ (Entra ID)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不正ログイン・なりすまし検知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権限昇格・特権操作検知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アクセス制御の証跡 (ISO27001)</a:t>
            </a:r>
          </a:p>
        </p:txBody>
      </p:sp>
      <p:sp>
        <p:nvSpPr>
          <p:cNvPr id="4002" name="Strip4002"/>
          <p:cNvSpPr/>
          <p:nvPr/>
        </p:nvSpPr>
        <p:spPr>
          <a:xfrm>
            <a:off x="5080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Microsoft Entra ID</a:t>
            </a:r>
          </a:p>
        </p:txBody>
      </p:sp>
      <p:sp>
        <p:nvSpPr>
          <p:cNvPr id="4003" name="Card4003"/>
          <p:cNvSpPr/>
          <p:nvPr/>
        </p:nvSpPr>
        <p:spPr>
          <a:xfrm>
            <a:off x="42926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Administrative (ARM操作)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Security / ServiceHealth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Policy (準拠状態の変動)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Subscription診断設定 → LAW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設定改ざん・リソース削除検知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NSG/Firewall設定変更追跡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変更管理の証跡</a:t>
            </a:r>
          </a:p>
        </p:txBody>
      </p:sp>
      <p:sp>
        <p:nvSpPr>
          <p:cNvPr id="4004" name="Strip4004"/>
          <p:cNvSpPr/>
          <p:nvPr/>
        </p:nvSpPr>
        <p:spPr>
          <a:xfrm>
            <a:off x="42926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Azure Activity Log</a:t>
            </a:r>
          </a:p>
        </p:txBody>
      </p:sp>
      <p:sp>
        <p:nvSpPr>
          <p:cNvPr id="4005" name="Card4005"/>
          <p:cNvSpPr/>
          <p:nvPr/>
        </p:nvSpPr>
        <p:spPr>
          <a:xfrm>
            <a:off x="8077200" y="1841500"/>
            <a:ext cx="3619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44000" tIns="540000" rIns="108000" bIns="72000" anchor="t"/>
          <a:lstStyle/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取得対象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Defender for Cloud アラート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VM Insights / Defender for Servers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Syslog / Windows Event (AMA経由)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ja-JP" sz="1400" b="1" dirty="0">
                <a:solidFill>
                  <a:srgbClr val="000000"/>
                </a:solidFill>
              </a:rPr>
              <a:t>収集経路</a:t>
            </a:r>
          </a:p>
          <a:p>
            <a:pPr marL="171450" indent="-171450">
              <a:spcAft>
                <a:spcPts val="500"/>
              </a:spcAft>
              <a:buFont typeface="Arial"/>
              <a:buChar char="■"/>
            </a:pPr>
            <a:r>
              <a:rPr lang="ja-JP" sz="1400" dirty="0"/>
              <a:t>Azure Monitor Agent + DCR → LAW</a:t>
            </a:r>
          </a:p>
          <a:p>
            <a:pPr marL="0" indent="0">
              <a:buNone/>
            </a:pPr>
            <a:r>
              <a:rPr lang="ja-JP" sz="1400" b="1" dirty="0">
                <a:solidFill>
                  <a:srgbClr val="000000"/>
                </a:solidFill>
              </a:rPr>
              <a:t>取得理由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EDRアラート・脆弱性検知</a:t>
            </a:r>
          </a:p>
          <a:p>
            <a:pPr marL="171450" indent="-171450">
              <a:spcAft>
                <a:spcPts val="200"/>
              </a:spcAft>
              <a:buFont typeface="Arial"/>
              <a:buChar char="■"/>
            </a:pPr>
            <a:r>
              <a:rPr lang="ja-JP" sz="1400" dirty="0"/>
              <a:t>OS層との相関分析の基礎</a:t>
            </a:r>
          </a:p>
          <a:p>
            <a:pPr marL="171450" indent="-171450">
              <a:buFont typeface="Arial"/>
              <a:buChar char="■"/>
            </a:pPr>
            <a:r>
              <a:rPr lang="ja-JP" sz="1400" dirty="0"/>
              <a:t>監査: マルウェア対策の継続証明</a:t>
            </a:r>
          </a:p>
        </p:txBody>
      </p:sp>
      <p:sp>
        <p:nvSpPr>
          <p:cNvPr id="4006" name="Strip4006"/>
          <p:cNvSpPr/>
          <p:nvPr/>
        </p:nvSpPr>
        <p:spPr>
          <a:xfrm>
            <a:off x="8077200" y="1841500"/>
            <a:ext cx="3619500" cy="457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</p:spPr>
        <p:txBody>
          <a:bodyPr wrap="square" lIns="108000" tIns="18000" rIns="108000" bIns="18000" anchor="ctr"/>
          <a:lstStyle/>
          <a:p>
            <a:pPr algn="l">
              <a:buNone/>
            </a:pPr>
            <a:r>
              <a:rPr lang="ja-JP" sz="1400" b="1" dirty="0">
                <a:solidFill>
                  <a:srgbClr val="FFFFFF"/>
                </a:solidFill>
              </a:rPr>
              <a:t>Defender for Cloud / VM</a:t>
            </a:r>
          </a:p>
        </p:txBody>
      </p:sp>
    </p:spTree>
    <p:extLst>
      <p:ext uri="{BB962C8B-B14F-4D97-AF65-F5344CB8AC3E}">
        <p14:creationId xmlns:p14="http://schemas.microsoft.com/office/powerpoint/2010/main" val="29928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DBC85-6145-E1C2-04DE-580E96C1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800" b="1" dirty="0"/>
              <a:t>④ Sentinel集約 — データフロー</a:t>
            </a:r>
          </a:p>
        </p:txBody>
      </p:sp>
      <p:sp>
        <p:nvSpPr>
          <p:cNvPr id="5001" name="L5001"/>
          <p:cNvSpPr/>
          <p:nvPr/>
        </p:nvSpPr>
        <p:spPr>
          <a:xfrm>
            <a:off x="381000" y="1968500"/>
            <a:ext cx="2540000" cy="279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</a:rPr>
              <a:t>ログソース</a:t>
            </a:r>
          </a:p>
        </p:txBody>
      </p:sp>
      <p:sp>
        <p:nvSpPr>
          <p:cNvPr id="5002" name="Shape5002"/>
          <p:cNvSpPr/>
          <p:nvPr/>
        </p:nvSpPr>
        <p:spPr>
          <a:xfrm>
            <a:off x="381000" y="2349500"/>
            <a:ext cx="2540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NSG / VNet
Flow Logs</a:t>
            </a:r>
          </a:p>
        </p:txBody>
      </p:sp>
      <p:sp>
        <p:nvSpPr>
          <p:cNvPr id="5003" name="Shape5003"/>
          <p:cNvSpPr/>
          <p:nvPr/>
        </p:nvSpPr>
        <p:spPr>
          <a:xfrm>
            <a:off x="381000" y="3175000"/>
            <a:ext cx="2540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Azure Firewall
Resource Logs</a:t>
            </a:r>
          </a:p>
        </p:txBody>
      </p:sp>
      <p:sp>
        <p:nvSpPr>
          <p:cNvPr id="5004" name="Shape5004"/>
          <p:cNvSpPr/>
          <p:nvPr/>
        </p:nvSpPr>
        <p:spPr>
          <a:xfrm>
            <a:off x="381000" y="4000500"/>
            <a:ext cx="2540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App Gateway WAF
Bastion / DDoS</a:t>
            </a:r>
          </a:p>
        </p:txBody>
      </p:sp>
      <p:sp>
        <p:nvSpPr>
          <p:cNvPr id="5005" name="Shape5005"/>
          <p:cNvSpPr/>
          <p:nvPr/>
        </p:nvSpPr>
        <p:spPr>
          <a:xfrm>
            <a:off x="381000" y="4826000"/>
            <a:ext cx="2540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Entra ID
Activity Log</a:t>
            </a:r>
          </a:p>
        </p:txBody>
      </p:sp>
      <p:sp>
        <p:nvSpPr>
          <p:cNvPr id="5006" name="Shape5006"/>
          <p:cNvSpPr/>
          <p:nvPr/>
        </p:nvSpPr>
        <p:spPr>
          <a:xfrm>
            <a:off x="381000" y="5651500"/>
            <a:ext cx="2540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VM Syslog / WinEvt
(AMA経由)</a:t>
            </a:r>
          </a:p>
        </p:txBody>
      </p:sp>
      <p:sp>
        <p:nvSpPr>
          <p:cNvPr id="5007" name="L5007"/>
          <p:cNvSpPr/>
          <p:nvPr/>
        </p:nvSpPr>
        <p:spPr>
          <a:xfrm>
            <a:off x="3683000" y="1968500"/>
            <a:ext cx="2794000" cy="279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</a:rPr>
              <a:t>収集方式</a:t>
            </a:r>
          </a:p>
        </p:txBody>
      </p:sp>
      <p:sp>
        <p:nvSpPr>
          <p:cNvPr id="5008" name="Shape5008"/>
          <p:cNvSpPr/>
          <p:nvPr/>
        </p:nvSpPr>
        <p:spPr>
          <a:xfrm>
            <a:off x="3683000" y="2349500"/>
            <a:ext cx="2794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Storage Account →
Traffic Analytics</a:t>
            </a:r>
          </a:p>
        </p:txBody>
      </p:sp>
      <p:sp>
        <p:nvSpPr>
          <p:cNvPr id="5009" name="Shape5009"/>
          <p:cNvSpPr/>
          <p:nvPr/>
        </p:nvSpPr>
        <p:spPr>
          <a:xfrm>
            <a:off x="3683000" y="3175000"/>
            <a:ext cx="2794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Diagnostic Settings
(Resource-specific)</a:t>
            </a:r>
          </a:p>
        </p:txBody>
      </p:sp>
      <p:sp>
        <p:nvSpPr>
          <p:cNvPr id="5010" name="Shape5010"/>
          <p:cNvSpPr/>
          <p:nvPr/>
        </p:nvSpPr>
        <p:spPr>
          <a:xfrm>
            <a:off x="3683000" y="4000500"/>
            <a:ext cx="2794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Diagnostic Settings</a:t>
            </a:r>
          </a:p>
        </p:txBody>
      </p:sp>
      <p:sp>
        <p:nvSpPr>
          <p:cNvPr id="5011" name="Shape5011"/>
          <p:cNvSpPr/>
          <p:nvPr/>
        </p:nvSpPr>
        <p:spPr>
          <a:xfrm>
            <a:off x="3683000" y="4826000"/>
            <a:ext cx="2794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Sentinel Data
Connector</a:t>
            </a:r>
          </a:p>
        </p:txBody>
      </p:sp>
      <p:sp>
        <p:nvSpPr>
          <p:cNvPr id="5012" name="Shape5012"/>
          <p:cNvSpPr/>
          <p:nvPr/>
        </p:nvSpPr>
        <p:spPr>
          <a:xfrm>
            <a:off x="3683000" y="5651500"/>
            <a:ext cx="2794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dirty="0">
                <a:solidFill>
                  <a:srgbClr val="000000"/>
                </a:solidFill>
              </a:rPr>
              <a:t>Data Collection Rule
(DCR)</a:t>
            </a:r>
          </a:p>
        </p:txBody>
      </p:sp>
      <p:sp>
        <p:nvSpPr>
          <p:cNvPr id="5013" name="L5013"/>
          <p:cNvSpPr/>
          <p:nvPr/>
        </p:nvSpPr>
        <p:spPr>
          <a:xfrm>
            <a:off x="7239000" y="1968500"/>
            <a:ext cx="2286000" cy="279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</a:rPr>
              <a:t>Workspace</a:t>
            </a:r>
          </a:p>
        </p:txBody>
      </p:sp>
      <p:sp>
        <p:nvSpPr>
          <p:cNvPr id="5014" name="Shape5014"/>
          <p:cNvSpPr/>
          <p:nvPr/>
        </p:nvSpPr>
        <p:spPr>
          <a:xfrm>
            <a:off x="7239000" y="2349500"/>
            <a:ext cx="2286000" cy="401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300" b="1" dirty="0">
                <a:solidFill>
                  <a:srgbClr val="000000"/>
                </a:solidFill>
              </a:rPr>
              <a:t>Log Analytics
Workspace
(Sentinel有効化)</a:t>
            </a:r>
          </a:p>
        </p:txBody>
      </p:sp>
      <p:sp>
        <p:nvSpPr>
          <p:cNvPr id="5015" name="L5015"/>
          <p:cNvSpPr/>
          <p:nvPr/>
        </p:nvSpPr>
        <p:spPr>
          <a:xfrm>
            <a:off x="10160000" y="1968500"/>
            <a:ext cx="1651000" cy="27940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ja-JP" sz="1200" b="1" dirty="0">
                <a:solidFill>
                  <a:srgbClr val="FFFFFF"/>
                </a:solidFill>
              </a:rPr>
              <a:t>Sentinel</a:t>
            </a:r>
          </a:p>
        </p:txBody>
      </p:sp>
      <p:sp>
        <p:nvSpPr>
          <p:cNvPr id="5016" name="Shape5016"/>
          <p:cNvSpPr/>
          <p:nvPr/>
        </p:nvSpPr>
        <p:spPr>
          <a:xfrm>
            <a:off x="10160000" y="2349500"/>
            <a:ext cx="1651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Analytics
Rules</a:t>
            </a:r>
          </a:p>
        </p:txBody>
      </p:sp>
      <p:sp>
        <p:nvSpPr>
          <p:cNvPr id="5017" name="Shape5017"/>
          <p:cNvSpPr/>
          <p:nvPr/>
        </p:nvSpPr>
        <p:spPr>
          <a:xfrm>
            <a:off x="10160000" y="3111500"/>
            <a:ext cx="1651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Hunting
Queries</a:t>
            </a:r>
          </a:p>
        </p:txBody>
      </p:sp>
      <p:sp>
        <p:nvSpPr>
          <p:cNvPr id="5018" name="Shape5018"/>
          <p:cNvSpPr/>
          <p:nvPr/>
        </p:nvSpPr>
        <p:spPr>
          <a:xfrm>
            <a:off x="10160000" y="3873500"/>
            <a:ext cx="1651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Workbooks</a:t>
            </a:r>
          </a:p>
        </p:txBody>
      </p:sp>
      <p:sp>
        <p:nvSpPr>
          <p:cNvPr id="5019" name="Shape5019"/>
          <p:cNvSpPr/>
          <p:nvPr/>
        </p:nvSpPr>
        <p:spPr>
          <a:xfrm>
            <a:off x="10160000" y="4635500"/>
            <a:ext cx="1651000" cy="66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Playbooks
(SOAR)</a:t>
            </a:r>
          </a:p>
        </p:txBody>
      </p:sp>
      <p:sp>
        <p:nvSpPr>
          <p:cNvPr id="5020" name="Shape5020"/>
          <p:cNvSpPr/>
          <p:nvPr/>
        </p:nvSpPr>
        <p:spPr>
          <a:xfrm>
            <a:off x="10160000" y="5397500"/>
            <a:ext cx="1651000" cy="965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ja-JP" sz="1100" b="1" dirty="0">
                <a:solidFill>
                  <a:srgbClr val="000000"/>
                </a:solidFill>
              </a:rPr>
              <a:t>Incident /
SOC Response</a:t>
            </a:r>
          </a:p>
        </p:txBody>
      </p:sp>
      <p:cxnSp>
        <p:nvCxnSpPr>
          <p:cNvPr id="5021" name="C5021"/>
          <p:cNvCxnSpPr/>
          <p:nvPr/>
        </p:nvCxnSpPr>
        <p:spPr>
          <a:xfrm>
            <a:off x="2921000" y="2705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2" name="C5022"/>
          <p:cNvCxnSpPr/>
          <p:nvPr/>
        </p:nvCxnSpPr>
        <p:spPr>
          <a:xfrm>
            <a:off x="2921000" y="35306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3" name="C5023"/>
          <p:cNvCxnSpPr/>
          <p:nvPr/>
        </p:nvCxnSpPr>
        <p:spPr>
          <a:xfrm>
            <a:off x="2921000" y="4356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4" name="C5024"/>
          <p:cNvCxnSpPr/>
          <p:nvPr/>
        </p:nvCxnSpPr>
        <p:spPr>
          <a:xfrm>
            <a:off x="2921000" y="51816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5" name="C5025"/>
          <p:cNvCxnSpPr/>
          <p:nvPr/>
        </p:nvCxnSpPr>
        <p:spPr>
          <a:xfrm>
            <a:off x="2921000" y="6007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6" name="C5026"/>
          <p:cNvCxnSpPr/>
          <p:nvPr/>
        </p:nvCxnSpPr>
        <p:spPr>
          <a:xfrm>
            <a:off x="6477000" y="2705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7" name="C5027"/>
          <p:cNvCxnSpPr/>
          <p:nvPr/>
        </p:nvCxnSpPr>
        <p:spPr>
          <a:xfrm>
            <a:off x="6477000" y="35306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8" name="C5028"/>
          <p:cNvCxnSpPr/>
          <p:nvPr/>
        </p:nvCxnSpPr>
        <p:spPr>
          <a:xfrm>
            <a:off x="6477000" y="4356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29" name="C5029"/>
          <p:cNvCxnSpPr/>
          <p:nvPr/>
        </p:nvCxnSpPr>
        <p:spPr>
          <a:xfrm>
            <a:off x="6477000" y="51816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30" name="C5030"/>
          <p:cNvCxnSpPr/>
          <p:nvPr/>
        </p:nvCxnSpPr>
        <p:spPr>
          <a:xfrm>
            <a:off x="6477000" y="6007100"/>
            <a:ext cx="762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  <p:cxnSp>
        <p:nvCxnSpPr>
          <p:cNvPr id="5031" name="C5031"/>
          <p:cNvCxnSpPr/>
          <p:nvPr/>
        </p:nvCxnSpPr>
        <p:spPr>
          <a:xfrm>
            <a:off x="9525000" y="4356100"/>
            <a:ext cx="635000" cy="1270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6668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D9695-70AF-E8CB-6B5D-656D5B306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ja-JP" sz="2800" b="1" dirty="0"/>
              <a:t>⑤ 取得理由マトリクス — 監視 × 監査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317BE30-56EE-8249-A929-69365BDB47E8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841500"/>
          <a:ext cx="11430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628125413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105999097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810046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7652276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</a:rPr>
                        <a:t>ログソース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</a:rPr>
                        <a:t>主な検知/分析シーン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</a:rPr>
                        <a:t>セキュリティ監視 根拠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</a:rPr>
                        <a:t>コンプライアンス 根拠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55303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NSG / VNet Flow Logs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ラテラルムーブメント / 不審な内部通信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東西通信の唯一の可視化手段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ISO27001 A.13 / NIST AC-4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2095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Azure Firewall Logs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C2通信 / マルウェア通信ブロック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出口制御の有効性確認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PCI DSS 1.x / J-SOX出口管理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1695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App Gateway WAF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Web攻撃 (SQLi/XSS等)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OWASP Top10検知の証跡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PCI DSS 要件6.6 / 個情法安全管理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703366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Azure Bastion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特権アクセス・踏み台監査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管理経路の不審アクセス検知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J-SOX / ISMS A.9 アクセス制御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99369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Entra ID Sign-in/Audit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なりすまし / 権限昇格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ID脅威の起点ログ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ISO27001 A.9 / NIST AU-2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3922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Activity Log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リソース改ざん / 設定変更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クラウド構成ドリフト検知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ISO27001 変更管理 / J-SOX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3332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000000"/>
                          </a:solidFill>
                        </a:rPr>
                        <a:t>VM Syslog / WinEvt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OS内不正実行 / 横展開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ネットワーク層と相関分析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>
                          <a:solidFill>
                            <a:srgbClr val="000000"/>
                          </a:solidFill>
                        </a:rPr>
                        <a:t>NIST AU-2 / ISMS A.12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32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92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8868807081]">
  <a:themeElements>
    <a:clrScheme name="Office">
      <a:dk1>
        <a:srgbClr val="000000"/>
      </a:dk1>
      <a:lt1>
        <a:srgbClr val="FFFFFF"/>
      </a:lt1>
      <a:dk2>
        <a:srgbClr val="333333"/>
      </a:dk2>
      <a:lt2>
        <a:srgbClr val="F2F2F2"/>
      </a:lt2>
      <a:accent1>
        <a:srgbClr val="000000"/>
      </a:accent1>
      <a:accent2>
        <a:srgbClr val="333333"/>
      </a:accent2>
      <a:accent3>
        <a:srgbClr val="666666"/>
      </a:accent3>
      <a:accent4>
        <a:srgbClr val="999999"/>
      </a:accent4>
      <a:accent5>
        <a:srgbClr val="CCCCCC"/>
      </a:accent5>
      <a:accent6>
        <a:srgbClr val="000000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Yu Gothic UI Semibol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Yu Gothic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9E72D2-0355-5C4C-B367-5498AD8E68E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c01fd67-f062-4127-a387-9890f94de8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871</Words>
  <Application>Microsoft Macintosh PowerPoint</Application>
  <PresentationFormat>ワイド画面</PresentationFormat>
  <Paragraphs>178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Arial</vt:lpstr>
      <vt:lpstr>Segoe UI</vt:lpstr>
      <vt:lpstr>Segoe UI Semibold</vt:lpstr>
      <vt:lpstr>Office テーマ [1778868807081]</vt:lpstr>
      <vt:lpstr>Azureネットワーク ログ収集設計 Microsoft Sentinelへの集約アーキテクチャ</vt:lpstr>
      <vt:lpstr>全体構成 — ログ取得ポイント俯瞰</vt:lpstr>
      <vt:lpstr>① Network層 — トラフィックログ</vt:lpstr>
      <vt:lpstr>② 境界・PaaS層 — アクセスログ</vt:lpstr>
      <vt:lpstr>③ Identity / Control Plane</vt:lpstr>
      <vt:lpstr>④ Sentinel集約 — データフロー</vt:lpstr>
      <vt:lpstr>⑤ 取得理由マトリクス — 監視 × 監査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satoshi hocchi</dc:creator>
  <cp:lastModifiedBy>satoshi hocchi</cp:lastModifiedBy>
  <cp:revision>3</cp:revision>
  <dcterms:created xsi:type="dcterms:W3CDTF">2026-05-15T17:45:49Z</dcterms:created>
  <dcterms:modified xsi:type="dcterms:W3CDTF">2026-05-15T18:32:42Z</dcterms:modified>
</cp:coreProperties>
</file>